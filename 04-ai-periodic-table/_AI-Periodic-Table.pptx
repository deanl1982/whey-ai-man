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df878395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df878395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e12e41a8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e12e41a8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e12e41a8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e12e41a8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e12e41a8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e12e41a8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df878395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df878395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9250" y="2600850"/>
            <a:ext cx="8365500" cy="22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tl;dr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 periodic table for ai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 └── from primitives to emerging tech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   └── how the elements combine into real-world patterns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633225" y="407600"/>
            <a:ext cx="372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3775" y="4690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dean.lawrence@avanade.com</a:t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github.com/deanl1982/whey-ai-man</a:t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27025" y="2138650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b="1" i="1" lang="en-GB" sz="1200">
                <a:latin typeface="Roboto Mono"/>
                <a:ea typeface="Roboto Mono"/>
                <a:cs typeface="Roboto Mono"/>
                <a:sym typeface="Roboto Mono"/>
              </a:rPr>
              <a:t>i periodic table</a:t>
            </a:r>
            <a:endParaRPr b="1" i="1"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89250" y="85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0.1</a:t>
            </a:r>
            <a:endParaRPr i="1" sz="9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389250" y="2600850"/>
            <a:ext cx="8365500" cy="22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the world of ai is drowning in its own vocabulary.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agents. rag. embeddings. guardrails. fine-tuning. vector databases. </a:t>
            </a: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multimodal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...and you're just supposed to know how it all fits together.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 thousand terms. no shared mental model.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633225" y="407600"/>
            <a:ext cx="372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13775" y="4690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dean.lawrence@avanade.com</a:t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github.com/deanl1982/whey-ai-man</a:t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27025" y="2138650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latin typeface="Roboto Mono"/>
                <a:ea typeface="Roboto Mono"/>
                <a:cs typeface="Roboto Mono"/>
                <a:sym typeface="Roboto Mono"/>
              </a:rPr>
              <a:t>ai periodic table</a:t>
            </a:r>
            <a:endParaRPr b="1" i="1"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89250" y="85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0.2</a:t>
            </a:r>
            <a:endParaRPr i="1" sz="9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389250" y="2600850"/>
            <a:ext cx="8365500" cy="22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chemistry had the same problem.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dozens of elements. no structure.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then a famous </a:t>
            </a: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chemist</a:t>
            </a: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called mendeleev built a grid [and left gaps].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rows told you complexity. columns told you behaviour.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let's</a:t>
            </a: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apply that </a:t>
            </a: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same concept</a:t>
            </a:r>
            <a:r>
              <a:rPr lang="en-GB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to ai, and build an ai periodic table.</a:t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633225" y="407600"/>
            <a:ext cx="372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13775" y="4690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dean.lawrence@avanade.com</a:t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github.com/deanl1982/whey-ai-man</a:t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27025" y="2138650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latin typeface="Roboto Mono"/>
                <a:ea typeface="Roboto Mono"/>
                <a:cs typeface="Roboto Mono"/>
                <a:sym typeface="Roboto Mono"/>
              </a:rPr>
              <a:t>ai periodic table</a:t>
            </a:r>
            <a:endParaRPr b="1" i="1" sz="1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89250" y="85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0.2</a:t>
            </a:r>
            <a:endParaRPr i="1" sz="9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538" y="70750"/>
            <a:ext cx="799891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7"/>
          <p:cNvGrpSpPr/>
          <p:nvPr/>
        </p:nvGrpSpPr>
        <p:grpSpPr>
          <a:xfrm>
            <a:off x="172750" y="351242"/>
            <a:ext cx="8864083" cy="4121071"/>
            <a:chOff x="172750" y="351242"/>
            <a:chExt cx="8864083" cy="4121071"/>
          </a:xfrm>
        </p:grpSpPr>
        <p:sp>
          <p:nvSpPr>
            <p:cNvPr id="87" name="Google Shape;87;p17"/>
            <p:cNvSpPr/>
            <p:nvPr/>
          </p:nvSpPr>
          <p:spPr>
            <a:xfrm>
              <a:off x="1650127" y="1175400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8" name="Google Shape;88;p17"/>
            <p:cNvSpPr/>
            <p:nvPr/>
          </p:nvSpPr>
          <p:spPr>
            <a:xfrm>
              <a:off x="1650127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9" name="Google Shape;89;p17"/>
            <p:cNvSpPr/>
            <p:nvPr/>
          </p:nvSpPr>
          <p:spPr>
            <a:xfrm>
              <a:off x="1650127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1650127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3127503" y="1175400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2" name="Google Shape;92;p17"/>
            <p:cNvSpPr/>
            <p:nvPr/>
          </p:nvSpPr>
          <p:spPr>
            <a:xfrm>
              <a:off x="3127503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3127503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3127503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4604880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4604880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6082257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6082257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6082257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7559633" y="1175400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7559633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7559633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7559633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172750" y="1175400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321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Primitives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172750" y="1999571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Compositions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172750" y="28237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Deployment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172750" y="364791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Emerging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1650127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Reactive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3127503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Retrieval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4604880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Orchestration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6082257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Validation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7559633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Models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8"/>
          <p:cNvGrpSpPr/>
          <p:nvPr/>
        </p:nvGrpSpPr>
        <p:grpSpPr>
          <a:xfrm>
            <a:off x="172750" y="351242"/>
            <a:ext cx="8864083" cy="4121071"/>
            <a:chOff x="172750" y="351242"/>
            <a:chExt cx="8864083" cy="4121071"/>
          </a:xfrm>
        </p:grpSpPr>
        <p:sp>
          <p:nvSpPr>
            <p:cNvPr id="118" name="Google Shape;118;p18"/>
            <p:cNvSpPr/>
            <p:nvPr/>
          </p:nvSpPr>
          <p:spPr>
            <a:xfrm>
              <a:off x="1650127" y="1175400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9" name="Google Shape;119;p18"/>
            <p:cNvSpPr/>
            <p:nvPr/>
          </p:nvSpPr>
          <p:spPr>
            <a:xfrm>
              <a:off x="1650127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1650127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1650127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2" name="Google Shape;122;p18"/>
            <p:cNvSpPr/>
            <p:nvPr/>
          </p:nvSpPr>
          <p:spPr>
            <a:xfrm>
              <a:off x="3127503" y="1175400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3127503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4" name="Google Shape;124;p18"/>
            <p:cNvSpPr/>
            <p:nvPr/>
          </p:nvSpPr>
          <p:spPr>
            <a:xfrm>
              <a:off x="3127503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5" name="Google Shape;125;p18"/>
            <p:cNvSpPr/>
            <p:nvPr/>
          </p:nvSpPr>
          <p:spPr>
            <a:xfrm>
              <a:off x="3127503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4604880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4604880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6082257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6082257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6082257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7559633" y="1175400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7559633" y="1999571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7559633" y="282374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7559633" y="3647912"/>
              <a:ext cx="1477200" cy="824400"/>
            </a:xfrm>
            <a:prstGeom prst="rect">
              <a:avLst/>
            </a:prstGeom>
            <a:solidFill>
              <a:schemeClr val="lt2"/>
            </a:solidFill>
            <a:ln cap="flat" cmpd="sng" w="83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172750" y="1175400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Primitives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172750" y="1999571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Compositions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172750" y="28237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Deployment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172750" y="364791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Emerging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1650127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Reactive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3127503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Retrieval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4604880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Orchestration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6082257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Validation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7559633" y="351242"/>
              <a:ext cx="1477200" cy="8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9800" lIns="79800" spcFirstLastPara="1" rIns="79800" wrap="square" tIns="79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21">
                  <a:latin typeface="Roboto Mono"/>
                  <a:ea typeface="Roboto Mono"/>
                  <a:cs typeface="Roboto Mono"/>
                  <a:sym typeface="Roboto Mono"/>
                </a:rPr>
                <a:t>Models</a:t>
              </a:r>
              <a:endParaRPr b="1" sz="132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144" name="Google Shape;144;p18"/>
          <p:cNvSpPr/>
          <p:nvPr/>
        </p:nvSpPr>
        <p:spPr>
          <a:xfrm>
            <a:off x="1650127" y="1175400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latin typeface="Roboto Mono"/>
                <a:ea typeface="Roboto Mono"/>
                <a:cs typeface="Roboto Mono"/>
                <a:sym typeface="Roboto Mono"/>
              </a:rPr>
              <a:t>Pr</a:t>
            </a:r>
            <a:endParaRPr sz="2021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latin typeface="Roboto Mono"/>
                <a:ea typeface="Roboto Mono"/>
                <a:cs typeface="Roboto Mono"/>
                <a:sym typeface="Roboto Mono"/>
              </a:rPr>
              <a:t>Prompts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1650127" y="1999571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Fc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Function Call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1650127" y="282374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Ag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Agent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1650127" y="364791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 Agent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3127503" y="1175400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Em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Embedding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3127503" y="1999571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Vx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Vector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3127503" y="282374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Ft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Fine Tuning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3127503" y="364791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Sy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Synthetic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604880" y="1999571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Rg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RAG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4604880" y="282374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Fw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Framework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6082257" y="1999571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Gr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Guardrails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082257" y="282374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Rt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Red Team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6082257" y="364791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Interpret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7559633" y="1175400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Lg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LLM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7559633" y="1999571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Mm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Multimodal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7559633" y="282374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Sm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Small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7559633" y="3647912"/>
            <a:ext cx="1477200" cy="824400"/>
          </a:xfrm>
          <a:prstGeom prst="rect">
            <a:avLst/>
          </a:prstGeom>
          <a:solidFill>
            <a:schemeClr val="lt2"/>
          </a:solidFill>
          <a:ln cap="flat" cmpd="sng" w="8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800" lIns="79800" spcFirstLastPara="1" rIns="79800" wrap="square" tIns="7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endParaRPr sz="202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Thinking</a:t>
            </a:r>
            <a:endParaRPr sz="122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mc:AlternateContent>
    <mc:Choice Requires="p14">
      <p:transition spd="slow" p14:dur="26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