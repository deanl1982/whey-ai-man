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5143500" cy="9144000"/>
  <p:embeddedFontLst>
    <p:embeddedFont>
      <p:font typeface="Roboto Mon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jOsK7siN0i4w8q/T5u9oxYBcSo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Mono-italic.fntdata"/><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font" Target="fonts/RobotoMono-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RobotoMono-bold.fntdata"/><Relationship Id="rId6" Type="http://schemas.openxmlformats.org/officeDocument/2006/relationships/slide" Target="slides/slide2.xml"/><Relationship Id="rId18" Type="http://schemas.openxmlformats.org/officeDocument/2006/relationships/font" Target="fonts/RobotoMono-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 name="Google Shape;2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 name="Google Shape;3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 name="Google Shape;3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sp>
        <p:nvSpPr>
          <p:cNvPr id="16" name="Google Shape;16;p1"/>
          <p:cNvSpPr/>
          <p:nvPr/>
        </p:nvSpPr>
        <p:spPr>
          <a:xfrm>
            <a:off x="411480" y="1508877"/>
            <a:ext cx="7772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Roboto Mono"/>
              <a:buNone/>
            </a:pPr>
            <a:r>
              <a:rPr b="1" i="1" lang="en-US" sz="1200" u="none" cap="none" strike="noStrike">
                <a:solidFill>
                  <a:srgbClr val="333333"/>
                </a:solidFill>
                <a:latin typeface="Roboto Mono"/>
                <a:ea typeface="Roboto Mono"/>
                <a:cs typeface="Roboto Mono"/>
                <a:sym typeface="Roboto Mono"/>
              </a:rPr>
              <a:t>ai-guardrails</a:t>
            </a:r>
            <a:endParaRPr b="0" i="0" sz="1200" u="none" cap="none" strike="noStrike">
              <a:solidFill>
                <a:schemeClr val="dk1"/>
              </a:solidFill>
              <a:latin typeface="Calibri"/>
              <a:ea typeface="Calibri"/>
              <a:cs typeface="Calibri"/>
              <a:sym typeface="Calibri"/>
            </a:endParaRPr>
          </a:p>
        </p:txBody>
      </p:sp>
      <p:sp>
        <p:nvSpPr>
          <p:cNvPr id="17" name="Google Shape;17;p1"/>
          <p:cNvSpPr/>
          <p:nvPr/>
        </p:nvSpPr>
        <p:spPr>
          <a:xfrm>
            <a:off x="1223725" y="114950"/>
            <a:ext cx="76398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1.0</a:t>
            </a:r>
            <a:endParaRPr b="0" i="0" sz="900" u="none" cap="none" strike="noStrike">
              <a:solidFill>
                <a:schemeClr val="dk1"/>
              </a:solidFill>
              <a:latin typeface="Calibri"/>
              <a:ea typeface="Calibri"/>
              <a:cs typeface="Calibri"/>
              <a:sym typeface="Calibri"/>
            </a:endParaRPr>
          </a:p>
        </p:txBody>
      </p:sp>
      <p:sp>
        <p:nvSpPr>
          <p:cNvPr id="18" name="Google Shape;18;p1"/>
          <p:cNvSpPr/>
          <p:nvPr/>
        </p:nvSpPr>
        <p:spPr>
          <a:xfrm>
            <a:off x="1091120" y="4729265"/>
            <a:ext cx="77724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dean.lawrence@avanade.com</a:t>
            </a:r>
            <a:endParaRPr b="0" i="0" sz="90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github.com/deanl1982/</a:t>
            </a:r>
            <a:r>
              <a:rPr i="1" lang="en-US" sz="900">
                <a:solidFill>
                  <a:srgbClr val="222222"/>
                </a:solidFill>
                <a:latin typeface="Roboto Mono"/>
                <a:ea typeface="Roboto Mono"/>
                <a:cs typeface="Roboto Mono"/>
                <a:sym typeface="Roboto Mono"/>
              </a:rPr>
              <a:t>whey-ai-man</a:t>
            </a:r>
            <a:endParaRPr b="0" i="0" sz="900" u="none" cap="none" strike="noStrike">
              <a:solidFill>
                <a:schemeClr val="dk1"/>
              </a:solidFill>
              <a:latin typeface="Calibri"/>
              <a:ea typeface="Calibri"/>
              <a:cs typeface="Calibri"/>
              <a:sym typeface="Calibri"/>
            </a:endParaRPr>
          </a:p>
        </p:txBody>
      </p:sp>
      <p:sp>
        <p:nvSpPr>
          <p:cNvPr id="19" name="Google Shape;19;p1"/>
          <p:cNvSpPr/>
          <p:nvPr/>
        </p:nvSpPr>
        <p:spPr>
          <a:xfrm>
            <a:off x="365750" y="1920365"/>
            <a:ext cx="7772400" cy="2610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sz="1100">
                <a:solidFill>
                  <a:srgbClr val="333333"/>
                </a:solidFill>
                <a:latin typeface="Roboto Mono"/>
                <a:ea typeface="Roboto Mono"/>
                <a:cs typeface="Roboto Mono"/>
                <a:sym typeface="Roboto Mono"/>
              </a:rPr>
              <a:t>Everyone's racing to embrace Generative AI, but the biggest challenge isn't technology — it's </a:t>
            </a:r>
            <a:r>
              <a:rPr b="1" lang="en-US" sz="1100">
                <a:solidFill>
                  <a:srgbClr val="333333"/>
                </a:solidFill>
                <a:latin typeface="Roboto Mono"/>
                <a:ea typeface="Roboto Mono"/>
                <a:cs typeface="Roboto Mono"/>
                <a:sym typeface="Roboto Mono"/>
              </a:rPr>
              <a:t>governance</a:t>
            </a:r>
            <a:r>
              <a:rPr lang="en-US" sz="1100">
                <a:solidFill>
                  <a:srgbClr val="333333"/>
                </a:solidFill>
                <a:latin typeface="Roboto Mono"/>
                <a:ea typeface="Roboto Mono"/>
                <a:cs typeface="Roboto Mono"/>
                <a:sym typeface="Roboto Mono"/>
              </a:rPr>
              <a:t>. AI and large language models offer a genuine opportunity for any large organisation: reducing administrative burden, improving staff productivity, and unlocking insights from data that has historically been underutilised.</a:t>
            </a:r>
            <a:endParaRPr sz="1100">
              <a:solidFill>
                <a:srgbClr val="333333"/>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rPr lang="en-US" sz="1100">
                <a:solidFill>
                  <a:srgbClr val="333333"/>
                </a:solidFill>
                <a:latin typeface="Roboto Mono"/>
                <a:ea typeface="Roboto Mono"/>
                <a:cs typeface="Roboto Mono"/>
                <a:sym typeface="Roboto Mono"/>
              </a:rPr>
              <a:t>But platforms that operate at scale, serving thousands of users and organisations within a business critical environments demand more than enthusiasm. They require disciplined governance, clear boundaries, and consistent architectural standards to ensure that sensitive data stays protected and that the technology behaves predictably across every workload.</a:t>
            </a:r>
            <a:endParaRPr sz="1100">
              <a:solidFill>
                <a:srgbClr val="333333"/>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rPr lang="en-US" sz="1100">
                <a:solidFill>
                  <a:srgbClr val="333333"/>
                </a:solidFill>
                <a:latin typeface="Roboto Mono"/>
                <a:ea typeface="Roboto Mono"/>
                <a:cs typeface="Roboto Mono"/>
                <a:sym typeface="Roboto Mono"/>
              </a:rPr>
              <a:t>This session walks through a framework designed to take the guesswork out of AI adoption — clear principles that let architects and engineers build quickly, without compromising on safety, compliance, or data sovereignty.</a:t>
            </a:r>
            <a:endParaRPr sz="1100">
              <a:solidFill>
                <a:srgbClr val="333333"/>
              </a:solidFill>
              <a:latin typeface="Roboto Mono"/>
              <a:ea typeface="Roboto Mono"/>
              <a:cs typeface="Roboto Mono"/>
              <a:sym typeface="Roboto Mono"/>
            </a:endParaRPr>
          </a:p>
          <a:p>
            <a:pPr indent="0" lvl="0" marL="0" marR="0" rtl="0" algn="l">
              <a:spcBef>
                <a:spcPts val="1200"/>
              </a:spcBef>
              <a:spcAft>
                <a:spcPts val="0"/>
              </a:spcAft>
              <a:buClr>
                <a:srgbClr val="333333"/>
              </a:buClr>
              <a:buSzPts val="1100"/>
              <a:buFont typeface="Roboto Mono"/>
              <a:buNone/>
            </a:pPr>
            <a:r>
              <a:t/>
            </a:r>
            <a:endParaRPr sz="1100">
              <a:solidFill>
                <a:srgbClr val="333333"/>
              </a:solidFill>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 name="Shape 24"/>
        <p:cNvGrpSpPr/>
        <p:nvPr/>
      </p:nvGrpSpPr>
      <p:grpSpPr>
        <a:xfrm>
          <a:off x="0" y="0"/>
          <a:ext cx="0" cy="0"/>
          <a:chOff x="0" y="0"/>
          <a:chExt cx="0" cy="0"/>
        </a:xfrm>
      </p:grpSpPr>
      <p:sp>
        <p:nvSpPr>
          <p:cNvPr id="25" name="Google Shape;25;p2"/>
          <p:cNvSpPr/>
          <p:nvPr/>
        </p:nvSpPr>
        <p:spPr>
          <a:xfrm>
            <a:off x="411480" y="7315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Roboto Mono"/>
              <a:buNone/>
            </a:pPr>
            <a:r>
              <a:rPr b="1" i="1" lang="en-US" sz="1200" u="none" cap="none" strike="noStrike">
                <a:solidFill>
                  <a:srgbClr val="333333"/>
                </a:solidFill>
                <a:latin typeface="Roboto Mono"/>
                <a:ea typeface="Roboto Mono"/>
                <a:cs typeface="Roboto Mono"/>
                <a:sym typeface="Roboto Mono"/>
              </a:rPr>
              <a:t>ai-guardrails</a:t>
            </a:r>
            <a:endParaRPr b="0" i="0" sz="1200" u="none" cap="none" strike="noStrike">
              <a:solidFill>
                <a:schemeClr val="dk1"/>
              </a:solidFill>
              <a:latin typeface="Calibri"/>
              <a:ea typeface="Calibri"/>
              <a:cs typeface="Calibri"/>
              <a:sym typeface="Calibri"/>
            </a:endParaRPr>
          </a:p>
        </p:txBody>
      </p:sp>
      <p:sp>
        <p:nvSpPr>
          <p:cNvPr id="26" name="Google Shape;26;p2"/>
          <p:cNvSpPr/>
          <p:nvPr/>
        </p:nvSpPr>
        <p:spPr>
          <a:xfrm>
            <a:off x="365760" y="1143000"/>
            <a:ext cx="7772400" cy="2926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scope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two deployment models covered:</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model-as-a-service (maas)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 consume llms via managed cloud apis (e.g. msft foundry, azure openai)</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 best for low-risk, non-sensitive workloads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self-hosted</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deployed within nhs-controlled infrastructure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required for phi/pii, clinical, or sensitive data</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lang="en-US" sz="1100">
                <a:solidFill>
                  <a:srgbClr val="333333"/>
                </a:solidFill>
                <a:latin typeface="Roboto Mono"/>
                <a:ea typeface="Roboto Mono"/>
                <a:cs typeface="Roboto Mono"/>
                <a:sym typeface="Roboto Mono"/>
              </a:rPr>
              <a:t>out of scope: </a:t>
            </a:r>
            <a:br>
              <a:rPr lang="en-US" sz="1100">
                <a:solidFill>
                  <a:srgbClr val="333333"/>
                </a:solidFill>
                <a:latin typeface="Roboto Mono"/>
                <a:ea typeface="Roboto Mono"/>
                <a:cs typeface="Roboto Mono"/>
                <a:sym typeface="Roboto Mono"/>
              </a:rPr>
            </a:br>
            <a:r>
              <a:rPr lang="en-US" sz="1100">
                <a:solidFill>
                  <a:srgbClr val="333333"/>
                </a:solidFill>
                <a:latin typeface="Roboto Mono"/>
                <a:ea typeface="Roboto Mono"/>
                <a:cs typeface="Roboto Mono"/>
                <a:sym typeface="Roboto Mono"/>
              </a:rPr>
              <a:t>├── </a:t>
            </a:r>
            <a:r>
              <a:rPr lang="en-US" sz="1100">
                <a:solidFill>
                  <a:srgbClr val="FF0000"/>
                </a:solidFill>
                <a:latin typeface="Roboto Mono"/>
                <a:ea typeface="Roboto Mono"/>
                <a:cs typeface="Roboto Mono"/>
                <a:sym typeface="Roboto Mono"/>
              </a:rPr>
              <a:t>consumer ai tools (chatgpt, gemini, claude etc)</a:t>
            </a:r>
            <a:br>
              <a:rPr lang="en-US" sz="1100">
                <a:solidFill>
                  <a:srgbClr val="333333"/>
                </a:solidFill>
                <a:latin typeface="Roboto Mono"/>
                <a:ea typeface="Roboto Mono"/>
                <a:cs typeface="Roboto Mono"/>
                <a:sym typeface="Roboto Mono"/>
              </a:rPr>
            </a:br>
            <a:r>
              <a:rPr lang="en-US" sz="1100">
                <a:solidFill>
                  <a:srgbClr val="333333"/>
                </a:solidFill>
                <a:latin typeface="Roboto Mono"/>
                <a:ea typeface="Roboto Mono"/>
                <a:cs typeface="Roboto Mono"/>
                <a:sym typeface="Roboto Mono"/>
              </a:rPr>
              <a:t>├── rag architecture patterns [solution-level decisions] </a:t>
            </a:r>
            <a:br>
              <a:rPr lang="en-US" sz="1100">
                <a:solidFill>
                  <a:srgbClr val="333333"/>
                </a:solidFill>
                <a:latin typeface="Roboto Mono"/>
                <a:ea typeface="Roboto Mono"/>
                <a:cs typeface="Roboto Mono"/>
                <a:sym typeface="Roboto Mono"/>
              </a:rPr>
            </a:br>
            <a:r>
              <a:rPr lang="en-US" sz="1100">
                <a:solidFill>
                  <a:srgbClr val="333333"/>
                </a:solidFill>
                <a:latin typeface="Roboto Mono"/>
                <a:ea typeface="Roboto Mono"/>
                <a:cs typeface="Roboto Mono"/>
                <a:sym typeface="Roboto Mono"/>
              </a:rPr>
              <a:t>├── fine-tuning strategies </a:t>
            </a:r>
            <a:br>
              <a:rPr lang="en-US" sz="1100">
                <a:solidFill>
                  <a:srgbClr val="333333"/>
                </a:solidFill>
                <a:latin typeface="Roboto Mono"/>
                <a:ea typeface="Roboto Mono"/>
                <a:cs typeface="Roboto Mono"/>
                <a:sym typeface="Roboto Mono"/>
              </a:rPr>
            </a:br>
            <a:r>
              <a:rPr lang="en-US" sz="1100">
                <a:solidFill>
                  <a:srgbClr val="333333"/>
                </a:solidFill>
                <a:latin typeface="Roboto Mono"/>
                <a:ea typeface="Roboto Mono"/>
                <a:cs typeface="Roboto Mono"/>
                <a:sym typeface="Roboto Mono"/>
              </a:rPr>
              <a:t>└── vector store / embedding model selection</a:t>
            </a:r>
            <a:endParaRPr b="0" i="0" sz="1100" u="none" cap="none" strike="noStrike">
              <a:solidFill>
                <a:schemeClr val="dk1"/>
              </a:solidFill>
              <a:latin typeface="Calibri"/>
              <a:ea typeface="Calibri"/>
              <a:cs typeface="Calibri"/>
              <a:sym typeface="Calibri"/>
            </a:endParaRPr>
          </a:p>
        </p:txBody>
      </p:sp>
      <p:sp>
        <p:nvSpPr>
          <p:cNvPr id="27" name="Google Shape;27;p2"/>
          <p:cNvSpPr/>
          <p:nvPr/>
        </p:nvSpPr>
        <p:spPr>
          <a:xfrm>
            <a:off x="1091120" y="4729265"/>
            <a:ext cx="77724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dean.lawrence@avanade.com</a:t>
            </a:r>
            <a:endParaRPr b="0" i="0" sz="90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github.com/deanl1982/</a:t>
            </a:r>
            <a:r>
              <a:rPr i="1" lang="en-US" sz="900">
                <a:solidFill>
                  <a:srgbClr val="222222"/>
                </a:solidFill>
                <a:latin typeface="Roboto Mono"/>
                <a:ea typeface="Roboto Mono"/>
                <a:cs typeface="Roboto Mono"/>
                <a:sym typeface="Roboto Mono"/>
              </a:rPr>
              <a:t>whey-ai-man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3"/>
          <p:cNvSpPr/>
          <p:nvPr/>
        </p:nvSpPr>
        <p:spPr>
          <a:xfrm>
            <a:off x="411480" y="7315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Roboto Mono"/>
              <a:buNone/>
            </a:pPr>
            <a:r>
              <a:rPr b="1" i="1" lang="en-US" sz="1200" u="none" cap="none" strike="noStrike">
                <a:solidFill>
                  <a:srgbClr val="333333"/>
                </a:solidFill>
                <a:latin typeface="Roboto Mono"/>
                <a:ea typeface="Roboto Mono"/>
                <a:cs typeface="Roboto Mono"/>
                <a:sym typeface="Roboto Mono"/>
              </a:rPr>
              <a:t>ai-guardrails</a:t>
            </a:r>
            <a:endParaRPr b="0" i="0" sz="1200" u="none" cap="none" strike="noStrike">
              <a:solidFill>
                <a:schemeClr val="dk1"/>
              </a:solidFill>
              <a:latin typeface="Calibri"/>
              <a:ea typeface="Calibri"/>
              <a:cs typeface="Calibri"/>
              <a:sym typeface="Calibri"/>
            </a:endParaRPr>
          </a:p>
        </p:txBody>
      </p:sp>
      <p:sp>
        <p:nvSpPr>
          <p:cNvPr id="34" name="Google Shape;34;p3"/>
          <p:cNvSpPr/>
          <p:nvPr/>
        </p:nvSpPr>
        <p:spPr>
          <a:xfrm>
            <a:off x="365760" y="1143000"/>
            <a:ext cx="7772400" cy="2926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the 9 principles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data protection and sovereignty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ai-01: data protection and sovereignty first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ai-02: use the least-privilege model approach</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ai-03: default to rag and frozen model</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risk and governance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ai-04: avoid fine-tuning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ai-05: enforce organisational boundaries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deployment strategy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ai-06: prefer maas for low-risk, self-hosted for sensitive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ai-07: principled selection of open vs closed models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safety and architecture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ai-08: inference pipeline guardrails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ai-09: designing for vendor-neutral ai architectures</a:t>
            </a:r>
            <a:endParaRPr b="0" i="0" sz="1100" u="none" cap="none" strike="noStrike">
              <a:solidFill>
                <a:schemeClr val="dk1"/>
              </a:solidFill>
              <a:latin typeface="Calibri"/>
              <a:ea typeface="Calibri"/>
              <a:cs typeface="Calibri"/>
              <a:sym typeface="Calibri"/>
            </a:endParaRPr>
          </a:p>
        </p:txBody>
      </p:sp>
      <p:sp>
        <p:nvSpPr>
          <p:cNvPr id="35" name="Google Shape;35;p3"/>
          <p:cNvSpPr/>
          <p:nvPr/>
        </p:nvSpPr>
        <p:spPr>
          <a:xfrm>
            <a:off x="1091120" y="4729265"/>
            <a:ext cx="77724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dean.lawrence@avanade.com</a:t>
            </a:r>
            <a:endParaRPr b="0" i="0" sz="90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github.com/deanl1982/</a:t>
            </a:r>
            <a:r>
              <a:rPr i="1" lang="en-US" sz="900">
                <a:solidFill>
                  <a:srgbClr val="222222"/>
                </a:solidFill>
                <a:latin typeface="Roboto Mono"/>
                <a:ea typeface="Roboto Mono"/>
                <a:cs typeface="Roboto Mono"/>
                <a:sym typeface="Roboto Mono"/>
              </a:rPr>
              <a:t>whey-ai-man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4"/>
          <p:cNvSpPr/>
          <p:nvPr/>
        </p:nvSpPr>
        <p:spPr>
          <a:xfrm>
            <a:off x="458505" y="1185673"/>
            <a:ext cx="7772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Roboto Mono"/>
              <a:buNone/>
            </a:pPr>
            <a:r>
              <a:rPr b="1" i="1" lang="en-US" sz="1200" u="none" cap="none" strike="noStrike">
                <a:solidFill>
                  <a:srgbClr val="333333"/>
                </a:solidFill>
                <a:latin typeface="Roboto Mono"/>
                <a:ea typeface="Roboto Mono"/>
                <a:cs typeface="Roboto Mono"/>
                <a:sym typeface="Roboto Mono"/>
              </a:rPr>
              <a:t>ai-guardrails</a:t>
            </a:r>
            <a:endParaRPr b="0" i="0" sz="1200" u="none" cap="none" strike="noStrike">
              <a:solidFill>
                <a:schemeClr val="dk1"/>
              </a:solidFill>
              <a:latin typeface="Calibri"/>
              <a:ea typeface="Calibri"/>
              <a:cs typeface="Calibri"/>
              <a:sym typeface="Calibri"/>
            </a:endParaRPr>
          </a:p>
        </p:txBody>
      </p:sp>
      <p:sp>
        <p:nvSpPr>
          <p:cNvPr id="42" name="Google Shape;42;p4"/>
          <p:cNvSpPr/>
          <p:nvPr/>
        </p:nvSpPr>
        <p:spPr>
          <a:xfrm>
            <a:off x="412775" y="1597159"/>
            <a:ext cx="7772400" cy="292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ai-01: data protection and sovereignty first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all ai solutions must prioritise data protection and uk sovereignty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100">
                <a:solidFill>
                  <a:srgbClr val="333333"/>
                </a:solidFill>
                <a:latin typeface="Roboto Mono"/>
                <a:ea typeface="Roboto Mono"/>
                <a:cs typeface="Roboto Mono"/>
                <a:sym typeface="Roboto Mono"/>
              </a:rPr>
              <a:t>why: </a:t>
            </a:r>
            <a:endParaRPr sz="1100">
              <a:solidFill>
                <a:srgbClr val="333333"/>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rPr lang="en-US" sz="1100">
                <a:solidFill>
                  <a:srgbClr val="333333"/>
                </a:solidFill>
                <a:latin typeface="Roboto Mono"/>
                <a:ea typeface="Roboto Mono"/>
                <a:cs typeface="Roboto Mono"/>
                <a:sym typeface="Roboto Mono"/>
              </a:rPr>
              <a:t>├── sensitive data must remain within approved jurisdictional boundaries</a:t>
            </a:r>
            <a:br>
              <a:rPr lang="en-US" sz="1100">
                <a:solidFill>
                  <a:srgbClr val="333333"/>
                </a:solidFill>
                <a:latin typeface="Roboto Mono"/>
                <a:ea typeface="Roboto Mono"/>
                <a:cs typeface="Roboto Mono"/>
                <a:sym typeface="Roboto Mono"/>
              </a:rPr>
            </a:br>
            <a:r>
              <a:rPr lang="en-US" sz="1100">
                <a:solidFill>
                  <a:srgbClr val="333333"/>
                </a:solidFill>
                <a:latin typeface="Roboto Mono"/>
                <a:ea typeface="Roboto Mono"/>
                <a:cs typeface="Roboto Mono"/>
                <a:sym typeface="Roboto Mono"/>
              </a:rPr>
              <a:t>├── no data used to train or improve third-party models </a:t>
            </a:r>
            <a:br>
              <a:rPr lang="en-US" sz="1100">
                <a:solidFill>
                  <a:srgbClr val="333333"/>
                </a:solidFill>
                <a:latin typeface="Roboto Mono"/>
                <a:ea typeface="Roboto Mono"/>
                <a:cs typeface="Roboto Mono"/>
                <a:sym typeface="Roboto Mono"/>
              </a:rPr>
            </a:br>
            <a:r>
              <a:rPr lang="en-US" sz="1100">
                <a:solidFill>
                  <a:srgbClr val="333333"/>
                </a:solidFill>
                <a:latin typeface="Roboto Mono"/>
                <a:ea typeface="Roboto Mono"/>
                <a:cs typeface="Roboto Mono"/>
                <a:sym typeface="Roboto Mono"/>
              </a:rPr>
              <a:t>└── maintain regulatory compliance and stakeholder trust</a:t>
            </a:r>
            <a:endParaRPr sz="1100">
              <a:solidFill>
                <a:srgbClr val="333333"/>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rPr lang="en-US" sz="1100">
                <a:solidFill>
                  <a:srgbClr val="333333"/>
                </a:solidFill>
                <a:latin typeface="Roboto Mono"/>
                <a:ea typeface="Roboto Mono"/>
                <a:cs typeface="Roboto Mono"/>
                <a:sym typeface="Roboto Mono"/>
              </a:rPr>
              <a:t>how:</a:t>
            </a:r>
            <a:br>
              <a:rPr lang="en-US" sz="1100">
                <a:solidFill>
                  <a:srgbClr val="333333"/>
                </a:solidFill>
                <a:latin typeface="Roboto Mono"/>
                <a:ea typeface="Roboto Mono"/>
                <a:cs typeface="Roboto Mono"/>
                <a:sym typeface="Roboto Mono"/>
              </a:rPr>
            </a:br>
            <a:r>
              <a:rPr lang="en-US" sz="1100">
                <a:solidFill>
                  <a:srgbClr val="333333"/>
                </a:solidFill>
                <a:latin typeface="Roboto Mono"/>
                <a:ea typeface="Roboto Mono"/>
                <a:cs typeface="Roboto Mono"/>
                <a:sym typeface="Roboto Mono"/>
              </a:rPr>
              <a:t>├── enforce jurisdiction-bound processing, storage, inference, and logging </a:t>
            </a:r>
            <a:br>
              <a:rPr lang="en-US" sz="1100">
                <a:solidFill>
                  <a:srgbClr val="333333"/>
                </a:solidFill>
                <a:latin typeface="Roboto Mono"/>
                <a:ea typeface="Roboto Mono"/>
                <a:cs typeface="Roboto Mono"/>
                <a:sym typeface="Roboto Mono"/>
              </a:rPr>
            </a:br>
            <a:r>
              <a:rPr lang="en-US" sz="1100">
                <a:solidFill>
                  <a:srgbClr val="333333"/>
                </a:solidFill>
                <a:latin typeface="Roboto Mono"/>
                <a:ea typeface="Roboto Mono"/>
                <a:cs typeface="Roboto Mono"/>
                <a:sym typeface="Roboto Mono"/>
              </a:rPr>
              <a:t>├── contractual + technical no-training guarantees from providers </a:t>
            </a:r>
            <a:br>
              <a:rPr lang="en-US" sz="1100">
                <a:solidFill>
                  <a:srgbClr val="333333"/>
                </a:solidFill>
                <a:latin typeface="Roboto Mono"/>
                <a:ea typeface="Roboto Mono"/>
                <a:cs typeface="Roboto Mono"/>
                <a:sym typeface="Roboto Mono"/>
              </a:rPr>
            </a:br>
            <a:r>
              <a:rPr lang="en-US" sz="1100">
                <a:solidFill>
                  <a:srgbClr val="333333"/>
                </a:solidFill>
                <a:latin typeface="Roboto Mono"/>
                <a:ea typeface="Roboto Mono"/>
                <a:cs typeface="Roboto Mono"/>
                <a:sym typeface="Roboto Mono"/>
              </a:rPr>
              <a:t>├── strict data minimisation before any data reaches a model </a:t>
            </a:r>
            <a:br>
              <a:rPr lang="en-US" sz="1100">
                <a:solidFill>
                  <a:srgbClr val="333333"/>
                </a:solidFill>
                <a:latin typeface="Roboto Mono"/>
                <a:ea typeface="Roboto Mono"/>
                <a:cs typeface="Roboto Mono"/>
                <a:sym typeface="Roboto Mono"/>
              </a:rPr>
            </a:br>
            <a:r>
              <a:rPr lang="en-US" sz="1100">
                <a:solidFill>
                  <a:srgbClr val="333333"/>
                </a:solidFill>
                <a:latin typeface="Roboto Mono"/>
                <a:ea typeface="Roboto Mono"/>
                <a:cs typeface="Roboto Mono"/>
                <a:sym typeface="Roboto Mono"/>
              </a:rPr>
              <a:t>└── robust redaction and context-limitation mechanisms</a:t>
            </a:r>
            <a:endParaRPr sz="1100">
              <a:solidFill>
                <a:srgbClr val="333333"/>
              </a:solidFill>
              <a:latin typeface="Roboto Mono"/>
              <a:ea typeface="Roboto Mono"/>
              <a:cs typeface="Roboto Mono"/>
              <a:sym typeface="Roboto Mono"/>
            </a:endParaRPr>
          </a:p>
          <a:p>
            <a:pPr indent="0" lvl="0" marL="0" marR="0" rtl="0" algn="l">
              <a:spcBef>
                <a:spcPts val="1200"/>
              </a:spcBef>
              <a:spcAft>
                <a:spcPts val="0"/>
              </a:spcAft>
              <a:buClr>
                <a:srgbClr val="333333"/>
              </a:buClr>
              <a:buSzPts val="1100"/>
              <a:buFont typeface="Roboto Mono"/>
              <a:buNone/>
            </a:pPr>
            <a:r>
              <a:t/>
            </a:r>
            <a:endParaRPr sz="1100">
              <a:solidFill>
                <a:srgbClr val="333333"/>
              </a:solidFill>
              <a:latin typeface="Roboto Mono"/>
              <a:ea typeface="Roboto Mono"/>
              <a:cs typeface="Roboto Mono"/>
              <a:sym typeface="Roboto Mono"/>
            </a:endParaRPr>
          </a:p>
        </p:txBody>
      </p:sp>
      <p:sp>
        <p:nvSpPr>
          <p:cNvPr id="43" name="Google Shape;43;p4"/>
          <p:cNvSpPr/>
          <p:nvPr/>
        </p:nvSpPr>
        <p:spPr>
          <a:xfrm>
            <a:off x="1091120" y="4729265"/>
            <a:ext cx="77724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dean.lawrence@avanade.com</a:t>
            </a:r>
            <a:endParaRPr b="0" i="0" sz="90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github.com/deanl1982/</a:t>
            </a:r>
            <a:r>
              <a:rPr i="1" lang="en-US" sz="900">
                <a:solidFill>
                  <a:srgbClr val="222222"/>
                </a:solidFill>
                <a:latin typeface="Roboto Mono"/>
                <a:ea typeface="Roboto Mono"/>
                <a:cs typeface="Roboto Mono"/>
                <a:sym typeface="Roboto Mono"/>
              </a:rPr>
              <a:t>whey-ai-man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5"/>
          <p:cNvSpPr/>
          <p:nvPr/>
        </p:nvSpPr>
        <p:spPr>
          <a:xfrm>
            <a:off x="411480" y="1238554"/>
            <a:ext cx="7772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Roboto Mono"/>
              <a:buNone/>
            </a:pPr>
            <a:r>
              <a:rPr b="1" i="1" lang="en-US" sz="1200" u="none" cap="none" strike="noStrike">
                <a:solidFill>
                  <a:srgbClr val="333333"/>
                </a:solidFill>
                <a:latin typeface="Roboto Mono"/>
                <a:ea typeface="Roboto Mono"/>
                <a:cs typeface="Roboto Mono"/>
                <a:sym typeface="Roboto Mono"/>
              </a:rPr>
              <a:t>ai-guardrails</a:t>
            </a:r>
            <a:endParaRPr b="0" i="0" sz="1200" u="none" cap="none" strike="noStrike">
              <a:solidFill>
                <a:schemeClr val="dk1"/>
              </a:solidFill>
              <a:latin typeface="Calibri"/>
              <a:ea typeface="Calibri"/>
              <a:cs typeface="Calibri"/>
              <a:sym typeface="Calibri"/>
            </a:endParaRPr>
          </a:p>
        </p:txBody>
      </p:sp>
      <p:sp>
        <p:nvSpPr>
          <p:cNvPr id="50" name="Google Shape;50;p5"/>
          <p:cNvSpPr/>
          <p:nvPr/>
        </p:nvSpPr>
        <p:spPr>
          <a:xfrm>
            <a:off x="365760" y="1650034"/>
            <a:ext cx="7772400" cy="1691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ai-02: use the least-privilege model approach</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select the lowest-risk model architecture for the use case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100">
                <a:solidFill>
                  <a:srgbClr val="333333"/>
                </a:solidFill>
                <a:latin typeface="Roboto Mono"/>
                <a:ea typeface="Roboto Mono"/>
                <a:cs typeface="Roboto Mono"/>
                <a:sym typeface="Roboto Mono"/>
              </a:rPr>
              <a:t>why: </a:t>
            </a:r>
            <a:br>
              <a:rPr lang="en-US" sz="1100">
                <a:solidFill>
                  <a:srgbClr val="333333"/>
                </a:solidFill>
                <a:latin typeface="Roboto Mono"/>
                <a:ea typeface="Roboto Mono"/>
                <a:cs typeface="Roboto Mono"/>
                <a:sym typeface="Roboto Mono"/>
              </a:rPr>
            </a:br>
            <a:r>
              <a:rPr lang="en-US" sz="1100">
                <a:solidFill>
                  <a:srgbClr val="333333"/>
                </a:solidFill>
                <a:latin typeface="Roboto Mono"/>
                <a:ea typeface="Roboto Mono"/>
                <a:cs typeface="Roboto Mono"/>
                <a:sym typeface="Roboto Mono"/>
              </a:rPr>
              <a:t>├── reduce operational, security, and compliance risk </a:t>
            </a:r>
            <a:br>
              <a:rPr lang="en-US" sz="1100">
                <a:solidFill>
                  <a:srgbClr val="333333"/>
                </a:solidFill>
                <a:latin typeface="Roboto Mono"/>
                <a:ea typeface="Roboto Mono"/>
                <a:cs typeface="Roboto Mono"/>
                <a:sym typeface="Roboto Mono"/>
              </a:rPr>
            </a:br>
            <a:r>
              <a:rPr lang="en-US" sz="1100">
                <a:solidFill>
                  <a:srgbClr val="333333"/>
                </a:solidFill>
                <a:latin typeface="Roboto Mono"/>
                <a:ea typeface="Roboto Mono"/>
                <a:cs typeface="Roboto Mono"/>
                <a:sym typeface="Roboto Mono"/>
              </a:rPr>
              <a:t>├── prevent avoidable model behaviours</a:t>
            </a:r>
            <a:br>
              <a:rPr lang="en-US" sz="1100">
                <a:solidFill>
                  <a:srgbClr val="333333"/>
                </a:solidFill>
                <a:latin typeface="Roboto Mono"/>
                <a:ea typeface="Roboto Mono"/>
                <a:cs typeface="Roboto Mono"/>
                <a:sym typeface="Roboto Mono"/>
              </a:rPr>
            </a:br>
            <a:r>
              <a:rPr lang="en-US" sz="1100">
                <a:solidFill>
                  <a:srgbClr val="333333"/>
                </a:solidFill>
                <a:latin typeface="Roboto Mono"/>
                <a:ea typeface="Roboto Mono"/>
                <a:cs typeface="Roboto Mono"/>
                <a:sym typeface="Roboto Mono"/>
              </a:rPr>
              <a:t>└── in shared or multi-tenant environments, blast radius is wide</a:t>
            </a:r>
            <a:endParaRPr sz="1100">
              <a:solidFill>
                <a:srgbClr val="333333"/>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rPr lang="en-US" sz="1100">
                <a:solidFill>
                  <a:srgbClr val="333333"/>
                </a:solidFill>
                <a:latin typeface="Roboto Mono"/>
                <a:ea typeface="Roboto Mono"/>
                <a:cs typeface="Roboto Mono"/>
                <a:sym typeface="Roboto Mono"/>
              </a:rPr>
              <a:t>how: </a:t>
            </a:r>
            <a:br>
              <a:rPr lang="en-US" sz="1100">
                <a:solidFill>
                  <a:srgbClr val="333333"/>
                </a:solidFill>
                <a:latin typeface="Roboto Mono"/>
                <a:ea typeface="Roboto Mono"/>
                <a:cs typeface="Roboto Mono"/>
                <a:sym typeface="Roboto Mono"/>
              </a:rPr>
            </a:br>
            <a:r>
              <a:rPr lang="en-US" sz="1100">
                <a:solidFill>
                  <a:srgbClr val="333333"/>
                </a:solidFill>
                <a:latin typeface="Roboto Mono"/>
                <a:ea typeface="Roboto Mono"/>
                <a:cs typeface="Roboto Mono"/>
                <a:sym typeface="Roboto Mono"/>
              </a:rPr>
              <a:t>├── choose the simplest, safest model capable of meeting the need </a:t>
            </a:r>
            <a:br>
              <a:rPr lang="en-US" sz="1100">
                <a:solidFill>
                  <a:srgbClr val="333333"/>
                </a:solidFill>
                <a:latin typeface="Roboto Mono"/>
                <a:ea typeface="Roboto Mono"/>
                <a:cs typeface="Roboto Mono"/>
                <a:sym typeface="Roboto Mono"/>
              </a:rPr>
            </a:br>
            <a:r>
              <a:rPr lang="en-US" sz="1100">
                <a:solidFill>
                  <a:srgbClr val="333333"/>
                </a:solidFill>
                <a:latin typeface="Roboto Mono"/>
                <a:ea typeface="Roboto Mono"/>
                <a:cs typeface="Roboto Mono"/>
                <a:sym typeface="Roboto Mono"/>
              </a:rPr>
              <a:t>├── frozen api model &lt; fine-tuned &lt; self-hosted custom </a:t>
            </a:r>
            <a:br>
              <a:rPr lang="en-US" sz="1100">
                <a:solidFill>
                  <a:srgbClr val="333333"/>
                </a:solidFill>
                <a:latin typeface="Roboto Mono"/>
                <a:ea typeface="Roboto Mono"/>
                <a:cs typeface="Roboto Mono"/>
                <a:sym typeface="Roboto Mono"/>
              </a:rPr>
            </a:br>
            <a:r>
              <a:rPr lang="en-US" sz="1100">
                <a:solidFill>
                  <a:srgbClr val="333333"/>
                </a:solidFill>
                <a:latin typeface="Roboto Mono"/>
                <a:ea typeface="Roboto Mono"/>
                <a:cs typeface="Roboto Mono"/>
                <a:sym typeface="Roboto Mono"/>
              </a:rPr>
              <a:t>├── rag over training wherever possible </a:t>
            </a:r>
            <a:br>
              <a:rPr lang="en-US" sz="1100">
                <a:solidFill>
                  <a:srgbClr val="333333"/>
                </a:solidFill>
                <a:latin typeface="Roboto Mono"/>
                <a:ea typeface="Roboto Mono"/>
                <a:cs typeface="Roboto Mono"/>
                <a:sym typeface="Roboto Mono"/>
              </a:rPr>
            </a:br>
            <a:r>
              <a:rPr lang="en-US" sz="1100">
                <a:solidFill>
                  <a:srgbClr val="333333"/>
                </a:solidFill>
                <a:latin typeface="Roboto Mono"/>
                <a:ea typeface="Roboto Mono"/>
                <a:cs typeface="Roboto Mono"/>
                <a:sym typeface="Roboto Mono"/>
              </a:rPr>
              <a:t>└── minimise data exposure to model internals</a:t>
            </a:r>
            <a:endParaRPr sz="1100">
              <a:solidFill>
                <a:srgbClr val="333333"/>
              </a:solidFill>
              <a:latin typeface="Roboto Mono"/>
              <a:ea typeface="Roboto Mono"/>
              <a:cs typeface="Roboto Mono"/>
              <a:sym typeface="Roboto Mono"/>
            </a:endParaRPr>
          </a:p>
          <a:p>
            <a:pPr indent="0" lvl="0" marL="0" marR="0" rtl="0" algn="l">
              <a:spcBef>
                <a:spcPts val="1200"/>
              </a:spcBef>
              <a:spcAft>
                <a:spcPts val="0"/>
              </a:spcAft>
              <a:buClr>
                <a:srgbClr val="333333"/>
              </a:buClr>
              <a:buSzPts val="1100"/>
              <a:buFont typeface="Roboto Mono"/>
              <a:buNone/>
            </a:pPr>
            <a:r>
              <a:t/>
            </a:r>
            <a:endParaRPr sz="1100">
              <a:solidFill>
                <a:srgbClr val="333333"/>
              </a:solidFill>
              <a:latin typeface="Roboto Mono"/>
              <a:ea typeface="Roboto Mono"/>
              <a:cs typeface="Roboto Mono"/>
              <a:sym typeface="Roboto Mono"/>
            </a:endParaRPr>
          </a:p>
        </p:txBody>
      </p:sp>
      <p:sp>
        <p:nvSpPr>
          <p:cNvPr id="51" name="Google Shape;51;p5"/>
          <p:cNvSpPr/>
          <p:nvPr/>
        </p:nvSpPr>
        <p:spPr>
          <a:xfrm>
            <a:off x="1091120" y="4729265"/>
            <a:ext cx="77724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dean.lawrence@avanade.com</a:t>
            </a:r>
            <a:endParaRPr b="0" i="0" sz="90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github.com/deanl1982/</a:t>
            </a:r>
            <a:r>
              <a:rPr i="1" lang="en-US" sz="900">
                <a:solidFill>
                  <a:srgbClr val="222222"/>
                </a:solidFill>
                <a:latin typeface="Roboto Mono"/>
                <a:ea typeface="Roboto Mono"/>
                <a:cs typeface="Roboto Mono"/>
                <a:sym typeface="Roboto Mono"/>
              </a:rPr>
              <a:t>whey-ai-man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6"/>
          <p:cNvSpPr/>
          <p:nvPr/>
        </p:nvSpPr>
        <p:spPr>
          <a:xfrm>
            <a:off x="411480" y="192024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Roboto Mono"/>
              <a:buNone/>
            </a:pPr>
            <a:r>
              <a:rPr b="1" i="1" lang="en-US" sz="1200" u="none" cap="none" strike="noStrike">
                <a:solidFill>
                  <a:srgbClr val="333333"/>
                </a:solidFill>
                <a:latin typeface="Roboto Mono"/>
                <a:ea typeface="Roboto Mono"/>
                <a:cs typeface="Roboto Mono"/>
                <a:sym typeface="Roboto Mono"/>
              </a:rPr>
              <a:t>ai-guardrails</a:t>
            </a:r>
            <a:endParaRPr b="0" i="0" sz="1200" u="none" cap="none" strike="noStrike">
              <a:solidFill>
                <a:schemeClr val="dk1"/>
              </a:solidFill>
              <a:latin typeface="Calibri"/>
              <a:ea typeface="Calibri"/>
              <a:cs typeface="Calibri"/>
              <a:sym typeface="Calibri"/>
            </a:endParaRPr>
          </a:p>
        </p:txBody>
      </p:sp>
      <p:sp>
        <p:nvSpPr>
          <p:cNvPr id="58" name="Google Shape;58;p6"/>
          <p:cNvSpPr/>
          <p:nvPr/>
        </p:nvSpPr>
        <p:spPr>
          <a:xfrm>
            <a:off x="365760" y="2331720"/>
            <a:ext cx="7772400" cy="1691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ai-03: default to rag and frozen model</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frozen models + retrieval-augmented generation by default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why: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frozen models = predictable, stable, easy to assure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no risk of memorising sensitive content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simplifies clinical and security assurance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how:</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use model exactly as provided, no modification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retrieve context from controlled data stores at runtime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update knowledge by updating data source, not retraining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behaviour is explainable, auditable, and consistent</a:t>
            </a:r>
            <a:endParaRPr b="0" i="0" sz="1100" u="none" cap="none" strike="noStrike">
              <a:solidFill>
                <a:schemeClr val="dk1"/>
              </a:solidFill>
              <a:latin typeface="Calibri"/>
              <a:ea typeface="Calibri"/>
              <a:cs typeface="Calibri"/>
              <a:sym typeface="Calibri"/>
            </a:endParaRPr>
          </a:p>
        </p:txBody>
      </p:sp>
      <p:sp>
        <p:nvSpPr>
          <p:cNvPr id="59" name="Google Shape;59;p6"/>
          <p:cNvSpPr/>
          <p:nvPr/>
        </p:nvSpPr>
        <p:spPr>
          <a:xfrm>
            <a:off x="1091120" y="4729265"/>
            <a:ext cx="77724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dean.lawrence@avanade.com</a:t>
            </a:r>
            <a:endParaRPr b="0" i="0" sz="90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github.com/deanl1982/</a:t>
            </a:r>
            <a:r>
              <a:rPr i="1" lang="en-US" sz="900">
                <a:solidFill>
                  <a:srgbClr val="222222"/>
                </a:solidFill>
                <a:latin typeface="Roboto Mono"/>
                <a:ea typeface="Roboto Mono"/>
                <a:cs typeface="Roboto Mono"/>
                <a:sym typeface="Roboto Mono"/>
              </a:rPr>
              <a:t>whey-ai-man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7"/>
          <p:cNvSpPr/>
          <p:nvPr/>
        </p:nvSpPr>
        <p:spPr>
          <a:xfrm>
            <a:off x="411480" y="192024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Roboto Mono"/>
              <a:buNone/>
            </a:pPr>
            <a:r>
              <a:rPr b="1" i="1" lang="en-US" sz="1200" u="none" cap="none" strike="noStrike">
                <a:solidFill>
                  <a:srgbClr val="333333"/>
                </a:solidFill>
                <a:latin typeface="Roboto Mono"/>
                <a:ea typeface="Roboto Mono"/>
                <a:cs typeface="Roboto Mono"/>
                <a:sym typeface="Roboto Mono"/>
              </a:rPr>
              <a:t>ai-guardrails</a:t>
            </a:r>
            <a:endParaRPr b="0" i="0" sz="1200" u="none" cap="none" strike="noStrike">
              <a:solidFill>
                <a:schemeClr val="dk1"/>
              </a:solidFill>
              <a:latin typeface="Calibri"/>
              <a:ea typeface="Calibri"/>
              <a:cs typeface="Calibri"/>
              <a:sym typeface="Calibri"/>
            </a:endParaRPr>
          </a:p>
        </p:txBody>
      </p:sp>
      <p:sp>
        <p:nvSpPr>
          <p:cNvPr id="66" name="Google Shape;66;p7"/>
          <p:cNvSpPr/>
          <p:nvPr/>
        </p:nvSpPr>
        <p:spPr>
          <a:xfrm>
            <a:off x="365760" y="2331720"/>
            <a:ext cx="7772400" cy="1691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ai-04: avoid fine-tuning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fine-tuning only permitted when fully justified and approved</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why: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alters model parameters = unpredictable behaviour</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risk of sensitive data being memorised or exposed</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a:t>
            </a:r>
            <a:r>
              <a:rPr lang="en-US" sz="1100">
                <a:solidFill>
                  <a:srgbClr val="333333"/>
                </a:solidFill>
                <a:latin typeface="Roboto Mono"/>
                <a:ea typeface="Roboto Mono"/>
                <a:cs typeface="Roboto Mono"/>
                <a:sym typeface="Roboto Mono"/>
              </a:rPr>
              <a:t> </a:t>
            </a:r>
            <a:r>
              <a:rPr b="0" i="0" lang="en-US" sz="1100" u="none" cap="none" strike="noStrike">
                <a:solidFill>
                  <a:srgbClr val="333333"/>
                </a:solidFill>
                <a:latin typeface="Roboto Mono"/>
                <a:ea typeface="Roboto Mono"/>
                <a:cs typeface="Roboto Mono"/>
                <a:sym typeface="Roboto Mono"/>
              </a:rPr>
              <a:t>└── </a:t>
            </a:r>
            <a:r>
              <a:rPr lang="en-US" sz="1100">
                <a:solidFill>
                  <a:srgbClr val="333333"/>
                </a:solidFill>
                <a:latin typeface="Roboto Mono"/>
                <a:ea typeface="Roboto Mono"/>
                <a:cs typeface="Roboto Mono"/>
                <a:sym typeface="Roboto Mono"/>
              </a:rPr>
              <a:t>significantly harder to assure at scale</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t/>
            </a:r>
            <a:endParaRPr sz="1100">
              <a:solidFill>
                <a:srgbClr val="333333"/>
              </a:solidFill>
              <a:latin typeface="Roboto Mono"/>
              <a:ea typeface="Roboto Mono"/>
              <a:cs typeface="Roboto Mono"/>
              <a:sym typeface="Roboto Mono"/>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if fine-tuning is proposed, requires all three: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full security risk assessment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formal approval from </a:t>
            </a:r>
            <a:r>
              <a:rPr lang="en-US" sz="1100">
                <a:solidFill>
                  <a:srgbClr val="333333"/>
                </a:solidFill>
                <a:latin typeface="Roboto Mono"/>
                <a:ea typeface="Roboto Mono"/>
                <a:cs typeface="Roboto Mono"/>
                <a:sym typeface="Roboto Mono"/>
              </a:rPr>
              <a:t>client</a:t>
            </a:r>
            <a:r>
              <a:rPr b="0" i="0" lang="en-US" sz="1100" u="none" cap="none" strike="noStrike">
                <a:solidFill>
                  <a:srgbClr val="333333"/>
                </a:solidFill>
                <a:latin typeface="Roboto Mono"/>
                <a:ea typeface="Roboto Mono"/>
                <a:cs typeface="Roboto Mono"/>
                <a:sym typeface="Roboto Mono"/>
              </a:rPr>
              <a:t> security and ig body</a:t>
            </a:r>
            <a:endParaRPr b="0" i="0" sz="1100" u="none" cap="none" strike="noStrike">
              <a:solidFill>
                <a:schemeClr val="dk1"/>
              </a:solidFill>
              <a:latin typeface="Calibri"/>
              <a:ea typeface="Calibri"/>
              <a:cs typeface="Calibri"/>
              <a:sym typeface="Calibri"/>
            </a:endParaRPr>
          </a:p>
        </p:txBody>
      </p:sp>
      <p:sp>
        <p:nvSpPr>
          <p:cNvPr id="67" name="Google Shape;67;p7"/>
          <p:cNvSpPr/>
          <p:nvPr/>
        </p:nvSpPr>
        <p:spPr>
          <a:xfrm>
            <a:off x="1091120" y="4729265"/>
            <a:ext cx="77724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dean.lawrence@avanade.com</a:t>
            </a:r>
            <a:endParaRPr b="0" i="0" sz="90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github.com/deanl1982/</a:t>
            </a:r>
            <a:r>
              <a:rPr i="1" lang="en-US" sz="900">
                <a:solidFill>
                  <a:srgbClr val="222222"/>
                </a:solidFill>
                <a:latin typeface="Roboto Mono"/>
                <a:ea typeface="Roboto Mono"/>
                <a:cs typeface="Roboto Mono"/>
                <a:sym typeface="Roboto Mono"/>
              </a:rPr>
              <a:t>whey-ai-man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8"/>
          <p:cNvSpPr/>
          <p:nvPr/>
        </p:nvSpPr>
        <p:spPr>
          <a:xfrm>
            <a:off x="411480" y="192024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Roboto Mono"/>
              <a:buNone/>
            </a:pPr>
            <a:r>
              <a:rPr b="1" i="1" lang="en-US" sz="1200" u="none" cap="none" strike="noStrike">
                <a:solidFill>
                  <a:srgbClr val="333333"/>
                </a:solidFill>
                <a:latin typeface="Roboto Mono"/>
                <a:ea typeface="Roboto Mono"/>
                <a:cs typeface="Roboto Mono"/>
                <a:sym typeface="Roboto Mono"/>
              </a:rPr>
              <a:t>ai-guardrails</a:t>
            </a:r>
            <a:endParaRPr b="0" i="0" sz="1200" u="none" cap="none" strike="noStrike">
              <a:solidFill>
                <a:schemeClr val="dk1"/>
              </a:solidFill>
              <a:latin typeface="Calibri"/>
              <a:ea typeface="Calibri"/>
              <a:cs typeface="Calibri"/>
              <a:sym typeface="Calibri"/>
            </a:endParaRPr>
          </a:p>
        </p:txBody>
      </p:sp>
      <p:sp>
        <p:nvSpPr>
          <p:cNvPr id="74" name="Google Shape;74;p8"/>
          <p:cNvSpPr/>
          <p:nvPr/>
        </p:nvSpPr>
        <p:spPr>
          <a:xfrm>
            <a:off x="365750" y="2331727"/>
            <a:ext cx="7772400" cy="2326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ai-05: enforce organisational boundaries [shared </a:t>
            </a:r>
            <a:r>
              <a:rPr lang="en-US" sz="1100">
                <a:solidFill>
                  <a:srgbClr val="333333"/>
                </a:solidFill>
                <a:latin typeface="Roboto Mono"/>
                <a:ea typeface="Roboto Mono"/>
                <a:cs typeface="Roboto Mono"/>
                <a:sym typeface="Roboto Mono"/>
              </a:rPr>
              <a:t>tenants]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no data from on</a:t>
            </a:r>
            <a:r>
              <a:rPr lang="en-US" sz="1100">
                <a:solidFill>
                  <a:srgbClr val="333333"/>
                </a:solidFill>
                <a:latin typeface="Roboto Mono"/>
                <a:ea typeface="Roboto Mono"/>
                <a:cs typeface="Roboto Mono"/>
                <a:sym typeface="Roboto Mono"/>
              </a:rPr>
              <a:t>e</a:t>
            </a:r>
            <a:r>
              <a:rPr b="0" i="0" lang="en-US" sz="1100" u="none" cap="none" strike="noStrike">
                <a:solidFill>
                  <a:srgbClr val="333333"/>
                </a:solidFill>
                <a:latin typeface="Roboto Mono"/>
                <a:ea typeface="Roboto Mono"/>
                <a:cs typeface="Roboto Mono"/>
                <a:sym typeface="Roboto Mono"/>
              </a:rPr>
              <a:t> org can ever be accessed by another</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why: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legal obligations around data separation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maintain trust across the nhs ecosystem</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how:</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partition vector stores, caches, logs, and prompt history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deterministic org-level rbac enforcement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isolate embeddings and model-generated outputs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applies equally to runtime and long-term storage</a:t>
            </a:r>
            <a:endParaRPr b="0" i="0" sz="1100" u="none" cap="none" strike="noStrike">
              <a:solidFill>
                <a:schemeClr val="dk1"/>
              </a:solidFill>
              <a:latin typeface="Calibri"/>
              <a:ea typeface="Calibri"/>
              <a:cs typeface="Calibri"/>
              <a:sym typeface="Calibri"/>
            </a:endParaRPr>
          </a:p>
        </p:txBody>
      </p:sp>
      <p:sp>
        <p:nvSpPr>
          <p:cNvPr id="75" name="Google Shape;75;p8"/>
          <p:cNvSpPr/>
          <p:nvPr/>
        </p:nvSpPr>
        <p:spPr>
          <a:xfrm>
            <a:off x="1091120" y="4729265"/>
            <a:ext cx="77724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dean.lawrence@avanade.com</a:t>
            </a:r>
            <a:endParaRPr b="0" i="0" sz="90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github.com/deanl1982/</a:t>
            </a:r>
            <a:r>
              <a:rPr i="1" lang="en-US" sz="900">
                <a:solidFill>
                  <a:srgbClr val="222222"/>
                </a:solidFill>
                <a:latin typeface="Roboto Mono"/>
                <a:ea typeface="Roboto Mono"/>
                <a:cs typeface="Roboto Mono"/>
                <a:sym typeface="Roboto Mono"/>
              </a:rPr>
              <a:t>whey-ai-man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9"/>
          <p:cNvSpPr/>
          <p:nvPr/>
        </p:nvSpPr>
        <p:spPr>
          <a:xfrm>
            <a:off x="411480" y="192024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Roboto Mono"/>
              <a:buNone/>
            </a:pPr>
            <a:r>
              <a:rPr b="1" i="1" lang="en-US" sz="1200" u="none" cap="none" strike="noStrike">
                <a:solidFill>
                  <a:srgbClr val="333333"/>
                </a:solidFill>
                <a:latin typeface="Roboto Mono"/>
                <a:ea typeface="Roboto Mono"/>
                <a:cs typeface="Roboto Mono"/>
                <a:sym typeface="Roboto Mono"/>
              </a:rPr>
              <a:t>ai-guardrails</a:t>
            </a:r>
            <a:endParaRPr b="0" i="0" sz="1200" u="none" cap="none" strike="noStrike">
              <a:solidFill>
                <a:schemeClr val="dk1"/>
              </a:solidFill>
              <a:latin typeface="Calibri"/>
              <a:ea typeface="Calibri"/>
              <a:cs typeface="Calibri"/>
              <a:sym typeface="Calibri"/>
            </a:endParaRPr>
          </a:p>
        </p:txBody>
      </p:sp>
      <p:sp>
        <p:nvSpPr>
          <p:cNvPr id="82" name="Google Shape;82;p9"/>
          <p:cNvSpPr/>
          <p:nvPr/>
        </p:nvSpPr>
        <p:spPr>
          <a:xfrm>
            <a:off x="365750" y="2331727"/>
            <a:ext cx="7772400" cy="2363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ai-06: maas for low-risk, self-hosted for sensitive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route workloads to the safest appropriate hosting model</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maas (e.g. </a:t>
            </a:r>
            <a:r>
              <a:rPr lang="en-US" sz="1100">
                <a:solidFill>
                  <a:srgbClr val="333333"/>
                </a:solidFill>
                <a:latin typeface="Roboto Mono"/>
                <a:ea typeface="Roboto Mono"/>
                <a:cs typeface="Roboto Mono"/>
                <a:sym typeface="Roboto Mono"/>
              </a:rPr>
              <a:t>msft foundry</a:t>
            </a:r>
            <a:r>
              <a:rPr b="0" i="0" lang="en-US" sz="1100" u="none" cap="none" strike="noStrike">
                <a:solidFill>
                  <a:srgbClr val="333333"/>
                </a:solidFill>
                <a:latin typeface="Roboto Mono"/>
                <a:ea typeface="Roboto Mono"/>
                <a:cs typeface="Roboto Mono"/>
                <a:sym typeface="Roboto Mono"/>
              </a:rPr>
              <a: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drafting comms, meeting summaries, admin tasks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no phi/pii or clinically sensitive content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rapid access to state-of-the-art capabilities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self-hosted (e.g. llama, mistral, phi-3):</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phi/pii, clinical narratives, patient care data</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full isolation, sovereignty, security, and control</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mandatory regardless of performance demands</a:t>
            </a:r>
            <a:endParaRPr b="0" i="0" sz="1100" u="none" cap="none" strike="noStrike">
              <a:solidFill>
                <a:schemeClr val="dk1"/>
              </a:solidFill>
              <a:latin typeface="Calibri"/>
              <a:ea typeface="Calibri"/>
              <a:cs typeface="Calibri"/>
              <a:sym typeface="Calibri"/>
            </a:endParaRPr>
          </a:p>
        </p:txBody>
      </p:sp>
      <p:sp>
        <p:nvSpPr>
          <p:cNvPr id="83" name="Google Shape;83;p9"/>
          <p:cNvSpPr/>
          <p:nvPr/>
        </p:nvSpPr>
        <p:spPr>
          <a:xfrm>
            <a:off x="1091120" y="4729265"/>
            <a:ext cx="77724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dean.lawrence@avanade.com</a:t>
            </a:r>
            <a:endParaRPr b="0" i="0" sz="90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github.com/deanl1982/</a:t>
            </a:r>
            <a:r>
              <a:rPr i="1" lang="en-US" sz="900">
                <a:solidFill>
                  <a:srgbClr val="222222"/>
                </a:solidFill>
                <a:latin typeface="Roboto Mono"/>
                <a:ea typeface="Roboto Mono"/>
                <a:cs typeface="Roboto Mono"/>
                <a:sym typeface="Roboto Mono"/>
              </a:rPr>
              <a:t>whey-ai-man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0"/>
          <p:cNvSpPr/>
          <p:nvPr/>
        </p:nvSpPr>
        <p:spPr>
          <a:xfrm>
            <a:off x="411480" y="192024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Roboto Mono"/>
              <a:buNone/>
            </a:pPr>
            <a:r>
              <a:rPr b="1" i="1" lang="en-US" sz="1200" u="none" cap="none" strike="noStrike">
                <a:solidFill>
                  <a:srgbClr val="333333"/>
                </a:solidFill>
                <a:latin typeface="Roboto Mono"/>
                <a:ea typeface="Roboto Mono"/>
                <a:cs typeface="Roboto Mono"/>
                <a:sym typeface="Roboto Mono"/>
              </a:rPr>
              <a:t>ai-guardrails</a:t>
            </a:r>
            <a:endParaRPr b="0" i="0" sz="1200" u="none" cap="none" strike="noStrike">
              <a:solidFill>
                <a:schemeClr val="dk1"/>
              </a:solidFill>
              <a:latin typeface="Calibri"/>
              <a:ea typeface="Calibri"/>
              <a:cs typeface="Calibri"/>
              <a:sym typeface="Calibri"/>
            </a:endParaRPr>
          </a:p>
        </p:txBody>
      </p:sp>
      <p:sp>
        <p:nvSpPr>
          <p:cNvPr id="90" name="Google Shape;90;p10"/>
          <p:cNvSpPr/>
          <p:nvPr/>
        </p:nvSpPr>
        <p:spPr>
          <a:xfrm>
            <a:off x="365760" y="2331720"/>
            <a:ext cx="7772400" cy="1691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ai-07: open vs closed model selection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model type must align with data sensitivity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closed models (e.g. gpt-4o):</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low-risk maas use cases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strong performance, mature security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cannot inspect weights or control updates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open-weight models (e.g. llama, mistral, phi-3):</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preferred for self-hosted sensitive workloads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full ownership of weights, inference, versioning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essential for sovereignty and auditability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flexibility for domain-specific customisation</a:t>
            </a:r>
            <a:endParaRPr b="0" i="0" sz="1100" u="none" cap="none" strike="noStrike">
              <a:solidFill>
                <a:schemeClr val="dk1"/>
              </a:solidFill>
              <a:latin typeface="Calibri"/>
              <a:ea typeface="Calibri"/>
              <a:cs typeface="Calibri"/>
              <a:sym typeface="Calibri"/>
            </a:endParaRPr>
          </a:p>
        </p:txBody>
      </p:sp>
      <p:sp>
        <p:nvSpPr>
          <p:cNvPr id="91" name="Google Shape;91;p10"/>
          <p:cNvSpPr/>
          <p:nvPr/>
        </p:nvSpPr>
        <p:spPr>
          <a:xfrm>
            <a:off x="1091120" y="4729265"/>
            <a:ext cx="77724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dean.lawrence@avanade.com</a:t>
            </a:r>
            <a:endParaRPr b="0" i="0" sz="90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github.com/deanl1982/</a:t>
            </a:r>
            <a:r>
              <a:rPr i="1" lang="en-US" sz="900">
                <a:solidFill>
                  <a:srgbClr val="222222"/>
                </a:solidFill>
                <a:latin typeface="Roboto Mono"/>
                <a:ea typeface="Roboto Mono"/>
                <a:cs typeface="Roboto Mono"/>
                <a:sym typeface="Roboto Mono"/>
              </a:rPr>
              <a:t>whey-ai-man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1"/>
          <p:cNvSpPr/>
          <p:nvPr/>
        </p:nvSpPr>
        <p:spPr>
          <a:xfrm>
            <a:off x="411480" y="7315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Roboto Mono"/>
              <a:buNone/>
            </a:pPr>
            <a:r>
              <a:rPr b="1" i="1" lang="en-US" sz="1200" u="none" cap="none" strike="noStrike">
                <a:solidFill>
                  <a:srgbClr val="333333"/>
                </a:solidFill>
                <a:latin typeface="Roboto Mono"/>
                <a:ea typeface="Roboto Mono"/>
                <a:cs typeface="Roboto Mono"/>
                <a:sym typeface="Roboto Mono"/>
              </a:rPr>
              <a:t>ai-guardrails</a:t>
            </a:r>
            <a:endParaRPr b="0" i="0" sz="1200" u="none" cap="none" strike="noStrike">
              <a:solidFill>
                <a:schemeClr val="dk1"/>
              </a:solidFill>
              <a:latin typeface="Calibri"/>
              <a:ea typeface="Calibri"/>
              <a:cs typeface="Calibri"/>
              <a:sym typeface="Calibri"/>
            </a:endParaRPr>
          </a:p>
        </p:txBody>
      </p:sp>
      <p:sp>
        <p:nvSpPr>
          <p:cNvPr id="98" name="Google Shape;98;p11"/>
          <p:cNvSpPr/>
          <p:nvPr/>
        </p:nvSpPr>
        <p:spPr>
          <a:xfrm>
            <a:off x="365760" y="1143000"/>
            <a:ext cx="7772400" cy="2926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ai-08: inference pipeline guardrails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guardrails at every stage: before, during, and after inference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the pipeline: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prompt filtering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 validate, sanitise, block adversarial inputs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automatic pii detection and sanitisation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 strip sensitive data before it reaches the model</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network isolation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 zero-trust, secured endpoints, no lateral movement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output filtering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 control hallucinations, toxicity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audit logging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who, what, which model version, what output</a:t>
            </a:r>
            <a:endParaRPr b="0" i="0" sz="1100" u="none" cap="none" strike="noStrike">
              <a:solidFill>
                <a:schemeClr val="dk1"/>
              </a:solidFill>
              <a:latin typeface="Calibri"/>
              <a:ea typeface="Calibri"/>
              <a:cs typeface="Calibri"/>
              <a:sym typeface="Calibri"/>
            </a:endParaRPr>
          </a:p>
        </p:txBody>
      </p:sp>
      <p:sp>
        <p:nvSpPr>
          <p:cNvPr id="99" name="Google Shape;99;p11"/>
          <p:cNvSpPr/>
          <p:nvPr/>
        </p:nvSpPr>
        <p:spPr>
          <a:xfrm>
            <a:off x="1091120" y="4729265"/>
            <a:ext cx="77724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dean.lawrence@avanade.com</a:t>
            </a:r>
            <a:endParaRPr b="0" i="0" sz="90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github.com/deanl1982/</a:t>
            </a:r>
            <a:r>
              <a:rPr i="1" lang="en-US" sz="900">
                <a:solidFill>
                  <a:srgbClr val="222222"/>
                </a:solidFill>
                <a:latin typeface="Roboto Mono"/>
                <a:ea typeface="Roboto Mono"/>
                <a:cs typeface="Roboto Mono"/>
                <a:sym typeface="Roboto Mono"/>
              </a:rPr>
              <a:t>whey-ai-man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2"/>
          <p:cNvSpPr/>
          <p:nvPr/>
        </p:nvSpPr>
        <p:spPr>
          <a:xfrm>
            <a:off x="411480" y="192024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Roboto Mono"/>
              <a:buNone/>
            </a:pPr>
            <a:r>
              <a:rPr b="1" i="1" lang="en-US" sz="1200" u="none" cap="none" strike="noStrike">
                <a:solidFill>
                  <a:srgbClr val="333333"/>
                </a:solidFill>
                <a:latin typeface="Roboto Mono"/>
                <a:ea typeface="Roboto Mono"/>
                <a:cs typeface="Roboto Mono"/>
                <a:sym typeface="Roboto Mono"/>
              </a:rPr>
              <a:t>ai-guardrails</a:t>
            </a:r>
            <a:endParaRPr b="0" i="0" sz="1200" u="none" cap="none" strike="noStrike">
              <a:solidFill>
                <a:schemeClr val="dk1"/>
              </a:solidFill>
              <a:latin typeface="Calibri"/>
              <a:ea typeface="Calibri"/>
              <a:cs typeface="Calibri"/>
              <a:sym typeface="Calibri"/>
            </a:endParaRPr>
          </a:p>
        </p:txBody>
      </p:sp>
      <p:sp>
        <p:nvSpPr>
          <p:cNvPr id="106" name="Google Shape;106;p12"/>
          <p:cNvSpPr/>
          <p:nvPr/>
        </p:nvSpPr>
        <p:spPr>
          <a:xfrm>
            <a:off x="365760" y="2331720"/>
            <a:ext cx="7772400" cy="1691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ai-09: vendor-neutral ai architectures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design for independence and long-term reversibility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why: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ai evolves fast, lock-in = costly and risky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nhs must be able to change providers freely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protect long-term strategic flexibility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how:</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open apis, standard interfaces, portable formats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rag separates knowledge from model parameters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nhs retains ownership of data, embeddings, logic</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 prefer open-weight models for sensitive workloads</a:t>
            </a:r>
            <a:endParaRPr b="0" i="0" sz="1100" u="none" cap="none" strike="noStrike">
              <a:solidFill>
                <a:schemeClr val="dk1"/>
              </a:solidFill>
              <a:latin typeface="Calibri"/>
              <a:ea typeface="Calibri"/>
              <a:cs typeface="Calibri"/>
              <a:sym typeface="Calibri"/>
            </a:endParaRPr>
          </a:p>
        </p:txBody>
      </p:sp>
      <p:sp>
        <p:nvSpPr>
          <p:cNvPr id="107" name="Google Shape;107;p12"/>
          <p:cNvSpPr/>
          <p:nvPr/>
        </p:nvSpPr>
        <p:spPr>
          <a:xfrm>
            <a:off x="1091120" y="4729265"/>
            <a:ext cx="77724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dean.lawrence@avanade.com</a:t>
            </a:r>
            <a:endParaRPr b="0" i="0" sz="90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github.com/deanl1982/</a:t>
            </a:r>
            <a:r>
              <a:rPr i="1" lang="en-US" sz="900">
                <a:solidFill>
                  <a:srgbClr val="222222"/>
                </a:solidFill>
                <a:latin typeface="Roboto Mono"/>
                <a:ea typeface="Roboto Mono"/>
                <a:cs typeface="Roboto Mono"/>
                <a:sym typeface="Roboto Mono"/>
              </a:rPr>
              <a:t>whey-ai-man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4"/>
          <p:cNvSpPr/>
          <p:nvPr/>
        </p:nvSpPr>
        <p:spPr>
          <a:xfrm>
            <a:off x="411480" y="192024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Roboto Mono"/>
              <a:buNone/>
            </a:pPr>
            <a:r>
              <a:rPr b="1" i="1" lang="en-US" sz="1200" u="none" cap="none" strike="noStrike">
                <a:solidFill>
                  <a:srgbClr val="333333"/>
                </a:solidFill>
                <a:latin typeface="Roboto Mono"/>
                <a:ea typeface="Roboto Mono"/>
                <a:cs typeface="Roboto Mono"/>
                <a:sym typeface="Roboto Mono"/>
              </a:rPr>
              <a:t>ai-guardrails</a:t>
            </a:r>
            <a:endParaRPr b="0" i="0" sz="1200" u="none" cap="none" strike="noStrike">
              <a:solidFill>
                <a:schemeClr val="dk1"/>
              </a:solidFill>
              <a:latin typeface="Calibri"/>
              <a:ea typeface="Calibri"/>
              <a:cs typeface="Calibri"/>
              <a:sym typeface="Calibri"/>
            </a:endParaRPr>
          </a:p>
        </p:txBody>
      </p:sp>
      <p:sp>
        <p:nvSpPr>
          <p:cNvPr id="114" name="Google Shape;114;p14"/>
          <p:cNvSpPr/>
          <p:nvPr/>
        </p:nvSpPr>
        <p:spPr>
          <a:xfrm>
            <a:off x="365760" y="2331720"/>
            <a:ext cx="77724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3333"/>
              </a:buClr>
              <a:buSzPts val="1100"/>
              <a:buFont typeface="Roboto Mono"/>
              <a:buNone/>
            </a:pPr>
            <a:r>
              <a:rPr b="0" i="0" lang="en-US" sz="1100" u="none" cap="none" strike="noStrike">
                <a:solidFill>
                  <a:srgbClr val="333333"/>
                </a:solidFill>
                <a:latin typeface="Roboto Mono"/>
                <a:ea typeface="Roboto Mono"/>
                <a:cs typeface="Roboto Mono"/>
                <a:sym typeface="Roboto Mono"/>
              </a:rPr>
              <a:t># questions</a:t>
            </a:r>
            <a:endParaRPr b="0" i="0" sz="1100" u="none" cap="none" strike="noStrike">
              <a:solidFill>
                <a:schemeClr val="dk1"/>
              </a:solidFill>
              <a:latin typeface="Calibri"/>
              <a:ea typeface="Calibri"/>
              <a:cs typeface="Calibri"/>
              <a:sym typeface="Calibri"/>
            </a:endParaRPr>
          </a:p>
        </p:txBody>
      </p:sp>
      <p:sp>
        <p:nvSpPr>
          <p:cNvPr id="115" name="Google Shape;115;p14"/>
          <p:cNvSpPr/>
          <p:nvPr/>
        </p:nvSpPr>
        <p:spPr>
          <a:xfrm>
            <a:off x="1091120" y="4729265"/>
            <a:ext cx="77724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dean.lawrence@avanade.com</a:t>
            </a:r>
            <a:endParaRPr b="0" i="0" sz="90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222222"/>
              </a:buClr>
              <a:buSzPts val="900"/>
              <a:buFont typeface="Roboto Mono"/>
              <a:buNone/>
            </a:pPr>
            <a:r>
              <a:rPr b="0" i="1" lang="en-US" sz="900" u="none" cap="none" strike="noStrike">
                <a:solidFill>
                  <a:srgbClr val="222222"/>
                </a:solidFill>
                <a:latin typeface="Roboto Mono"/>
                <a:ea typeface="Roboto Mono"/>
                <a:cs typeface="Roboto Mono"/>
                <a:sym typeface="Roboto Mono"/>
              </a:rPr>
              <a:t>github.com/deanl1982/</a:t>
            </a:r>
            <a:r>
              <a:rPr i="1" lang="en-US" sz="900">
                <a:solidFill>
                  <a:srgbClr val="222222"/>
                </a:solidFill>
                <a:latin typeface="Roboto Mono"/>
                <a:ea typeface="Roboto Mono"/>
                <a:cs typeface="Roboto Mono"/>
                <a:sym typeface="Roboto Mono"/>
              </a:rPr>
              <a:t>whey-ai-man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2026-03-09T19:49:27Z</dcterms:created>
  <dc:creator>Dean Lawrence</dc:creator>
</cp:coreProperties>
</file>